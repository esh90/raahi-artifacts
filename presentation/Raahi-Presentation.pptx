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4" r:id="rId6"/>
    <p:sldId id="261" r:id="rId7"/>
    <p:sldId id="263" r:id="rId8"/>
    <p:sldId id="266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2" d="100"/>
          <a:sy n="42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022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1000" cy="10287000"/>
          </a:xfrm>
          <a:prstGeom prst="rect">
            <a:avLst/>
          </a:prstGeom>
          <a:solidFill>
            <a:srgbClr val="1063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14500" y="2166938"/>
            <a:ext cx="88011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5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ASSISTIVE VISION · ANDROID + AI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714500" y="2693988"/>
            <a:ext cx="547514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05"/>
              </a:lnSpc>
              <a:buNone/>
            </a:pPr>
            <a:r>
              <a:rPr lang="en-US" sz="150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Raahi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7072908" y="3519488"/>
            <a:ext cx="1441202" cy="1028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750" dirty="0">
                <a:solidFill>
                  <a:srgbClr val="5865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راہی</a:t>
            </a:r>
            <a:endParaRPr lang="en-US" sz="6750" dirty="0"/>
          </a:p>
        </p:txBody>
      </p:sp>
      <p:sp>
        <p:nvSpPr>
          <p:cNvPr id="6" name="Text 4"/>
          <p:cNvSpPr/>
          <p:nvPr/>
        </p:nvSpPr>
        <p:spPr>
          <a:xfrm>
            <a:off x="1714500" y="4789488"/>
            <a:ext cx="88011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dirty="0">
                <a:solidFill>
                  <a:srgbClr val="1928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آپ کے سفر کا ساتھی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14500" y="5703888"/>
            <a:ext cx="88011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553"/>
              </a:lnSpc>
              <a:buNone/>
            </a:pPr>
            <a:r>
              <a:rPr lang="en-US" sz="3300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your phone. Hear where to step.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1714500" y="6684963"/>
            <a:ext cx="3541415" cy="641350"/>
          </a:xfrm>
          <a:prstGeom prst="roundRect">
            <a:avLst>
              <a:gd name="adj" fmla="val 50000"/>
            </a:avLst>
          </a:prstGeom>
          <a:solidFill>
            <a:srgbClr val="1063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81200" y="6837363"/>
            <a:ext cx="3114257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Indoor Urdu voice + vision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408315" y="6684963"/>
            <a:ext cx="2184598" cy="641350"/>
          </a:xfrm>
          <a:prstGeom prst="roundRect">
            <a:avLst>
              <a:gd name="adj" fmla="val 50000"/>
            </a:avLst>
          </a:prstGeom>
          <a:solidFill>
            <a:srgbClr val="E0EE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75015" y="6837363"/>
            <a:ext cx="1727398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headset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714500" y="7478713"/>
            <a:ext cx="2887980" cy="641350"/>
          </a:xfrm>
          <a:prstGeom prst="roundRect">
            <a:avLst>
              <a:gd name="adj" fmla="val 50000"/>
            </a:avLst>
          </a:prstGeom>
          <a:solidFill>
            <a:srgbClr val="E0EE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87100" y="2717800"/>
            <a:ext cx="599313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300" dirty="0">
                <a:solidFill>
                  <a:srgbClr val="E0E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GUIDANCE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1087100" y="3435350"/>
            <a:ext cx="599313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“Stop.”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1087100" y="4514850"/>
            <a:ext cx="599313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“Chair ahead, 3 steps.”</a:t>
            </a:r>
            <a:endParaRPr lang="en-US" sz="3900" dirty="0"/>
          </a:p>
        </p:txBody>
      </p:sp>
      <p:sp>
        <p:nvSpPr>
          <p:cNvPr id="18" name="Text 16"/>
          <p:cNvSpPr/>
          <p:nvPr/>
        </p:nvSpPr>
        <p:spPr>
          <a:xfrm>
            <a:off x="11087100" y="5518150"/>
            <a:ext cx="5993130" cy="66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900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“Move 2 steps left.”</a:t>
            </a:r>
            <a:endParaRPr lang="en-US" sz="3900" dirty="0"/>
          </a:p>
        </p:txBody>
      </p:sp>
      <p:pic>
        <p:nvPicPr>
          <p:cNvPr id="22" name="Phone mockup" descr="phone_cam.png">
            <a:extLst>
              <a:ext uri="{FF2B5EF4-FFF2-40B4-BE49-F238E27FC236}">
                <a16:creationId xmlns:a16="http://schemas.microsoft.com/office/drawing/2014/main" id="{D4351F8A-12FF-92B6-95CE-FC8C5B7C7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323" y="959882"/>
            <a:ext cx="6241117" cy="8191468"/>
          </a:xfrm>
          <a:prstGeom prst="rect">
            <a:avLst/>
          </a:prstGeom>
        </p:spPr>
      </p:pic>
      <p:sp>
        <p:nvSpPr>
          <p:cNvPr id="24" name="Text 11">
            <a:extLst>
              <a:ext uri="{FF2B5EF4-FFF2-40B4-BE49-F238E27FC236}">
                <a16:creationId xmlns:a16="http://schemas.microsoft.com/office/drawing/2014/main" id="{6E1B94C5-B63E-CBFA-F147-7520DC42CF49}"/>
              </a:ext>
            </a:extLst>
          </p:cNvPr>
          <p:cNvSpPr/>
          <p:nvPr/>
        </p:nvSpPr>
        <p:spPr>
          <a:xfrm>
            <a:off x="1981200" y="7631113"/>
            <a:ext cx="2480667" cy="293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06367"/>
                </a:solidFill>
                <a:latin typeface="Arial" pitchFamily="34" charset="0"/>
                <a:cs typeface="Arial" pitchFamily="34" charset="-120"/>
              </a:rPr>
              <a:t>Multi-lingual Support</a:t>
            </a:r>
            <a:endParaRPr lang="en-US" sz="2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EA3F62-8059-DFE4-EE7A-D4A719BFB997}"/>
              </a:ext>
            </a:extLst>
          </p:cNvPr>
          <p:cNvSpPr txBox="1"/>
          <p:nvPr/>
        </p:nvSpPr>
        <p:spPr>
          <a:xfrm>
            <a:off x="1207770" y="543322"/>
            <a:ext cx="7687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Team Tech Titans presents: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E936DE-0FFA-C9AC-57FD-6C6CF90879E4}"/>
              </a:ext>
            </a:extLst>
          </p:cNvPr>
          <p:cNvSpPr txBox="1"/>
          <p:nvPr/>
        </p:nvSpPr>
        <p:spPr>
          <a:xfrm>
            <a:off x="3345701" y="8903413"/>
            <a:ext cx="76878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TRACK: </a:t>
            </a:r>
            <a:r>
              <a:rPr lang="en-US" sz="3200" b="1" dirty="0">
                <a:solidFill>
                  <a:srgbClr val="009999"/>
                </a:solidFill>
              </a:rPr>
              <a:t>AI in HealthCare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912515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652"/>
              </a:lnSpc>
              <a:buNone/>
            </a:pPr>
            <a:r>
              <a:rPr lang="en-US" sz="60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loss is common. Aids are not affordable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1143000" y="2647950"/>
            <a:ext cx="3743325" cy="3091755"/>
          </a:xfrm>
          <a:prstGeom prst="rect">
            <a:avLst/>
          </a:prstGeom>
          <a:solidFill>
            <a:srgbClr val="E8F2F0"/>
          </a:solidFill>
          <a:ln w="19050">
            <a:solidFill>
              <a:srgbClr val="1928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43050" y="3124200"/>
            <a:ext cx="3237548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48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billion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43050" y="4000500"/>
            <a:ext cx="3031522" cy="8800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373"/>
              </a:lnSpc>
              <a:buNone/>
            </a:pPr>
            <a:r>
              <a:rPr lang="en-US" sz="2550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with some vision impairment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5229225" y="2647950"/>
            <a:ext cx="3743325" cy="3091755"/>
          </a:xfrm>
          <a:prstGeom prst="rect">
            <a:avLst/>
          </a:prstGeom>
          <a:solidFill>
            <a:srgbClr val="E8F2F0"/>
          </a:solidFill>
          <a:ln w="19050">
            <a:solidFill>
              <a:srgbClr val="1928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29275" y="3124200"/>
            <a:ext cx="3237548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48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million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629275" y="4000500"/>
            <a:ext cx="3237548" cy="459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373"/>
              </a:lnSpc>
              <a:buNone/>
            </a:pPr>
            <a:r>
              <a:rPr lang="en-US" sz="2550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completely blind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15450" y="2647950"/>
            <a:ext cx="3743325" cy="3091755"/>
          </a:xfrm>
          <a:prstGeom prst="rect">
            <a:avLst/>
          </a:prstGeom>
          <a:solidFill>
            <a:srgbClr val="E8F2F0"/>
          </a:solidFill>
          <a:ln w="19050">
            <a:solidFill>
              <a:srgbClr val="1928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15500" y="3124200"/>
            <a:ext cx="3237548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48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715500" y="4000500"/>
            <a:ext cx="3031522" cy="130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373"/>
              </a:lnSpc>
              <a:buNone/>
            </a:pPr>
            <a:r>
              <a:rPr lang="en-US" sz="2550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low- and middle-income countries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3401675" y="2647950"/>
            <a:ext cx="3743325" cy="3091755"/>
          </a:xfrm>
          <a:prstGeom prst="rect">
            <a:avLst/>
          </a:prstGeom>
          <a:solidFill>
            <a:srgbClr val="E8F2F0"/>
          </a:solidFill>
          <a:ln w="19050">
            <a:solidFill>
              <a:srgbClr val="1928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801725" y="3124200"/>
            <a:ext cx="3237548" cy="647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7273"/>
              </a:lnSpc>
              <a:buNone/>
            </a:pPr>
            <a:r>
              <a:rPr lang="en-US" sz="48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million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3801725" y="4000500"/>
            <a:ext cx="3031522" cy="13010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2373"/>
              </a:lnSpc>
              <a:buNone/>
            </a:pPr>
            <a:r>
              <a:rPr lang="en-US" sz="2550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in Pakistan; 1.5–1.8 million blind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143000" y="5930205"/>
            <a:ext cx="1760220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WHO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6343650"/>
            <a:ext cx="16002000" cy="2895600"/>
          </a:xfrm>
          <a:prstGeom prst="rect">
            <a:avLst/>
          </a:prstGeom>
          <a:solidFill>
            <a:srgbClr val="1063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28800" y="7004050"/>
            <a:ext cx="779526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747"/>
              </a:lnSpc>
              <a:buNone/>
            </a:pPr>
            <a:r>
              <a:rPr lang="en-US" sz="7200" b="1" dirty="0">
                <a:solidFill>
                  <a:srgbClr val="E3B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$1,500–$4,500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1828800" y="8147050"/>
            <a:ext cx="7795260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of glasses and wearables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372600" y="6877050"/>
            <a:ext cx="77952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GPS dies indoors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372600" y="7550150"/>
            <a:ext cx="77952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English apps fail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372600" y="8223250"/>
            <a:ext cx="7795260" cy="52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Photo-AI doesn’t say where to step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63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50" dirty="0">
                <a:solidFill>
                  <a:srgbClr val="E0E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441450"/>
            <a:ext cx="17602200" cy="99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See. Measure. Speak.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1143000" y="3009900"/>
            <a:ext cx="5105400" cy="4660900"/>
          </a:xfrm>
          <a:prstGeom prst="roundRect">
            <a:avLst>
              <a:gd name="adj" fmla="val 4905"/>
            </a:avLst>
          </a:prstGeom>
          <a:solidFill>
            <a:srgbClr val="F7F4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62100" y="3467100"/>
            <a:ext cx="685800" cy="685800"/>
          </a:xfrm>
          <a:prstGeom prst="ellipse">
            <a:avLst/>
          </a:prstGeom>
          <a:solidFill>
            <a:srgbClr val="1063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24000" y="3467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562100" y="4419600"/>
            <a:ext cx="469392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562100" y="5187950"/>
            <a:ext cx="4395216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24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camera. YOLOE names door, chair, person.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91300" y="3009900"/>
            <a:ext cx="5105400" cy="4660900"/>
          </a:xfrm>
          <a:prstGeom prst="roundRect">
            <a:avLst>
              <a:gd name="adj" fmla="val 4905"/>
            </a:avLst>
          </a:prstGeom>
          <a:solidFill>
            <a:srgbClr val="F7F4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10400" y="3467100"/>
            <a:ext cx="685800" cy="685800"/>
          </a:xfrm>
          <a:prstGeom prst="ellipse">
            <a:avLst/>
          </a:prstGeom>
          <a:solidFill>
            <a:srgbClr val="1063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72300" y="3467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010400" y="4419600"/>
            <a:ext cx="469392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010400" y="5187950"/>
            <a:ext cx="4395216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24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Anything V2. Metres, left / centre / right.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039600" y="3009900"/>
            <a:ext cx="5105400" cy="4660900"/>
          </a:xfrm>
          <a:prstGeom prst="roundRect">
            <a:avLst>
              <a:gd name="adj" fmla="val 4905"/>
            </a:avLst>
          </a:prstGeom>
          <a:solidFill>
            <a:srgbClr val="F7F4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2458700" y="3467100"/>
            <a:ext cx="685800" cy="685800"/>
          </a:xfrm>
          <a:prstGeom prst="ellipse">
            <a:avLst/>
          </a:prstGeom>
          <a:solidFill>
            <a:srgbClr val="1063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420600" y="3467100"/>
            <a:ext cx="7620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58700" y="4419600"/>
            <a:ext cx="4693920" cy="65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2458700" y="5187950"/>
            <a:ext cx="4395216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7818"/>
              </a:lnSpc>
              <a:buNone/>
            </a:pPr>
            <a:r>
              <a:rPr lang="en-US" sz="2400" dirty="0">
                <a:solidFill>
                  <a:srgbClr val="58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Urdu clips and vibration.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8051800"/>
            <a:ext cx="16002000" cy="1282700"/>
          </a:xfrm>
          <a:prstGeom prst="roundRect">
            <a:avLst>
              <a:gd name="adj" fmla="val 17822"/>
            </a:avLst>
          </a:prstGeom>
          <a:solidFill>
            <a:srgbClr val="0B4C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76400" y="8585200"/>
            <a:ext cx="92581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100" kern="0" spc="300" dirty="0">
                <a:solidFill>
                  <a:srgbClr val="E0EE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830810" y="8432800"/>
            <a:ext cx="15158869" cy="55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7F4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“Stop — person ahead — 3 steps — move 2 left.”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50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136650"/>
            <a:ext cx="176022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Walk, ask, hear. Hands-free.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264920" y="2178000"/>
            <a:ext cx="16002000" cy="7423150"/>
          </a:xfrm>
          <a:prstGeom prst="roundRect">
            <a:avLst>
              <a:gd name="adj" fmla="val 30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1143000" y="2057400"/>
            <a:ext cx="16123920" cy="76809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85800"/>
            <a:ext cx="176022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50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136650"/>
            <a:ext cx="176022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camera frame to guidance in ~78 ms.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143000" y="2178050"/>
            <a:ext cx="16002000" cy="7423150"/>
          </a:xfrm>
          <a:prstGeom prst="roundRect">
            <a:avLst>
              <a:gd name="adj" fmla="val 30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43000" y="2178050"/>
            <a:ext cx="15681960" cy="74231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76022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50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· START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079500"/>
            <a:ext cx="176022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learn, go.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557463" y="2025650"/>
            <a:ext cx="3448050" cy="6934200"/>
          </a:xfrm>
          <a:prstGeom prst="roundRect">
            <a:avLst>
              <a:gd name="adj" fmla="val 17680"/>
            </a:avLst>
          </a:prstGeom>
          <a:solidFill>
            <a:srgbClr val="111111"/>
          </a:solidFill>
          <a:ln/>
          <a:effectLst>
            <a:outerShdw blurRad="571500" dist="285750" dir="5400000" algn="bl" rotWithShape="0">
              <a:srgbClr val="1928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863" y="2178050"/>
            <a:ext cx="3143250" cy="662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86287" y="9226550"/>
            <a:ext cx="1066502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7419975" y="2025650"/>
            <a:ext cx="3448050" cy="6934200"/>
          </a:xfrm>
          <a:prstGeom prst="roundRect">
            <a:avLst>
              <a:gd name="adj" fmla="val 17680"/>
            </a:avLst>
          </a:prstGeom>
          <a:solidFill>
            <a:srgbClr val="111111"/>
          </a:solidFill>
          <a:ln/>
          <a:effectLst>
            <a:outerShdw blurRad="571500" dist="285750" dir="5400000" algn="bl" rotWithShape="0">
              <a:srgbClr val="1928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75" y="2178050"/>
            <a:ext cx="3143250" cy="6629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97763" y="9226550"/>
            <a:ext cx="1861721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2550" dirty="0"/>
          </a:p>
        </p:txBody>
      </p:sp>
      <p:sp>
        <p:nvSpPr>
          <p:cNvPr id="10" name="Shape 6"/>
          <p:cNvSpPr/>
          <p:nvPr/>
        </p:nvSpPr>
        <p:spPr>
          <a:xfrm>
            <a:off x="12282488" y="2025650"/>
            <a:ext cx="3448050" cy="6934200"/>
          </a:xfrm>
          <a:prstGeom prst="roundRect">
            <a:avLst>
              <a:gd name="adj" fmla="val 17680"/>
            </a:avLst>
          </a:prstGeom>
          <a:solidFill>
            <a:srgbClr val="111111"/>
          </a:solidFill>
          <a:ln/>
          <a:effectLst>
            <a:outerShdw blurRad="571500" dist="285750" dir="5400000" algn="bl" rotWithShape="0">
              <a:srgbClr val="1928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4888" y="2178050"/>
            <a:ext cx="3143250" cy="662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574514" y="9226550"/>
            <a:ext cx="940098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666750"/>
            <a:ext cx="1760220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450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· CONTROL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143000" y="1079500"/>
            <a:ext cx="1760220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Ask, review, adjust.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9593549" y="2025650"/>
            <a:ext cx="3448050" cy="6934200"/>
          </a:xfrm>
          <a:prstGeom prst="roundRect">
            <a:avLst>
              <a:gd name="adj" fmla="val 17680"/>
            </a:avLst>
          </a:prstGeom>
          <a:solidFill>
            <a:srgbClr val="111111"/>
          </a:solidFill>
          <a:ln/>
          <a:effectLst>
            <a:outerShdw blurRad="571500" dist="285750" dir="5400000" algn="bl" rotWithShape="0">
              <a:srgbClr val="1928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5949" y="2178050"/>
            <a:ext cx="3143250" cy="6629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30707" y="9226550"/>
            <a:ext cx="2830999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summary</a:t>
            </a:r>
            <a:endParaRPr lang="en-US" sz="2550" dirty="0"/>
          </a:p>
        </p:txBody>
      </p:sp>
      <p:sp>
        <p:nvSpPr>
          <p:cNvPr id="10" name="Shape 6"/>
          <p:cNvSpPr/>
          <p:nvPr/>
        </p:nvSpPr>
        <p:spPr>
          <a:xfrm>
            <a:off x="14396100" y="2025650"/>
            <a:ext cx="3448050" cy="6934200"/>
          </a:xfrm>
          <a:prstGeom prst="roundRect">
            <a:avLst>
              <a:gd name="adj" fmla="val 17680"/>
            </a:avLst>
          </a:prstGeom>
          <a:solidFill>
            <a:srgbClr val="111111"/>
          </a:solidFill>
          <a:ln/>
          <a:effectLst>
            <a:outerShdw blurRad="571500" dist="285750" dir="5400000" algn="bl" rotWithShape="0">
              <a:srgbClr val="1928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8500" y="2178050"/>
            <a:ext cx="3143250" cy="662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35032" y="9226550"/>
            <a:ext cx="124638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255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D6952467-B6EF-B2FE-E434-C71D7D129071}"/>
              </a:ext>
            </a:extLst>
          </p:cNvPr>
          <p:cNvSpPr/>
          <p:nvPr/>
        </p:nvSpPr>
        <p:spPr>
          <a:xfrm>
            <a:off x="443850" y="2025650"/>
            <a:ext cx="3448050" cy="6934200"/>
          </a:xfrm>
          <a:prstGeom prst="roundRect">
            <a:avLst>
              <a:gd name="adj" fmla="val 17680"/>
            </a:avLst>
          </a:prstGeom>
          <a:solidFill>
            <a:srgbClr val="111111"/>
          </a:solidFill>
          <a:ln/>
          <a:effectLst>
            <a:outerShdw blurRad="571500" dist="285750" dir="5400000" algn="bl" rotWithShape="0">
              <a:srgbClr val="1928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240D2251-72A9-BDE2-E8DE-A13774726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250" y="2178050"/>
            <a:ext cx="3143250" cy="6629400"/>
          </a:xfrm>
          <a:prstGeom prst="rect">
            <a:avLst/>
          </a:prstGeom>
        </p:spPr>
      </p:pic>
      <p:sp>
        <p:nvSpPr>
          <p:cNvPr id="15" name="Text 3">
            <a:extLst>
              <a:ext uri="{FF2B5EF4-FFF2-40B4-BE49-F238E27FC236}">
                <a16:creationId xmlns:a16="http://schemas.microsoft.com/office/drawing/2014/main" id="{2331F1E7-2BF6-9833-AB31-859E62A11B5A}"/>
              </a:ext>
            </a:extLst>
          </p:cNvPr>
          <p:cNvSpPr/>
          <p:nvPr/>
        </p:nvSpPr>
        <p:spPr>
          <a:xfrm>
            <a:off x="1024577" y="9226550"/>
            <a:ext cx="2515146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guidance</a:t>
            </a:r>
            <a:endParaRPr lang="en-US" sz="255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0440FD23-50A2-A1C8-9E2B-9C74088C3D3B}"/>
              </a:ext>
            </a:extLst>
          </p:cNvPr>
          <p:cNvSpPr/>
          <p:nvPr/>
        </p:nvSpPr>
        <p:spPr>
          <a:xfrm>
            <a:off x="4961236" y="2006600"/>
            <a:ext cx="3448050" cy="6934200"/>
          </a:xfrm>
          <a:prstGeom prst="roundRect">
            <a:avLst>
              <a:gd name="adj" fmla="val 17680"/>
            </a:avLst>
          </a:prstGeom>
          <a:solidFill>
            <a:srgbClr val="111111"/>
          </a:solidFill>
          <a:ln/>
          <a:effectLst>
            <a:outerShdw blurRad="571500" dist="285750" dir="5400000" algn="bl" rotWithShape="0">
              <a:srgbClr val="192844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02DA5978-9B1D-F0FF-F880-6BC8E5BF3C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3636" y="2159000"/>
            <a:ext cx="3143250" cy="6629400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9C4708C0-CFE7-318D-692C-2089AB8E4751}"/>
              </a:ext>
            </a:extLst>
          </p:cNvPr>
          <p:cNvSpPr/>
          <p:nvPr/>
        </p:nvSpPr>
        <p:spPr>
          <a:xfrm>
            <a:off x="5794178" y="9207500"/>
            <a:ext cx="1960384" cy="412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928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alert</a:t>
            </a:r>
            <a:endParaRPr lang="en-US" sz="2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2991173" cy="10287000"/>
          </a:xfrm>
          <a:prstGeom prst="rect">
            <a:avLst/>
          </a:prstGeom>
          <a:solidFill>
            <a:srgbClr val="1063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0371" y="3730938"/>
            <a:ext cx="167640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304"/>
              </a:lnSpc>
              <a:buNone/>
            </a:pPr>
            <a:r>
              <a:rPr lang="en-US" sz="9000" b="1" dirty="0">
                <a:solidFill>
                  <a:srgbClr val="1063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YOU..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7606182" y="4969188"/>
            <a:ext cx="16764000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dirty="0"/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247</Words>
  <Application>Microsoft Office PowerPoint</Application>
  <PresentationFormat>Custom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Esha Shabbir</cp:lastModifiedBy>
  <cp:revision>4</cp:revision>
  <dcterms:created xsi:type="dcterms:W3CDTF">2026-10-10T11:29:55Z</dcterms:created>
  <dcterms:modified xsi:type="dcterms:W3CDTF">2026-10-11T18:12:29Z</dcterms:modified>
</cp:coreProperties>
</file>